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inflation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SmartPhones</c:v>
                  </c:pt>
                  <c:pt idx="2">
                    <c:v>Laptops</c:v>
                  </c:pt>
                  <c:pt idx="3">
                    <c:v>Home_Appliances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253</c:v>
                </c:pt>
                <c:pt idx="2">
                  <c:v>289</c:v>
                </c:pt>
                <c:pt idx="3">
                  <c:v>283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 inflation</c:v>
                </c:pt>
              </c:strCache>
            </c:strRef>
          </c:tx>
          <c:spPr>
            <a:solidFill>
              <a:srgbClr val="6C86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SmartPhones</c:v>
                  </c:pt>
                  <c:pt idx="2">
                    <c:v>Laptops</c:v>
                  </c:pt>
                  <c:pt idx="3">
                    <c:v>Home_Appliances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270</c:v>
                </c:pt>
                <c:pt idx="1">
                  <c:v>286</c:v>
                </c:pt>
                <c:pt idx="2">
                  <c:v>265</c:v>
                </c:pt>
                <c:pt idx="3">
                  <c:v>273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 inflation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SmartPhones</c:v>
                  </c:pt>
                  <c:pt idx="2">
                    <c:v>Laptops</c:v>
                  </c:pt>
                  <c:pt idx="3">
                    <c:v>Home_Appliances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305</c:v>
                </c:pt>
                <c:pt idx="1">
                  <c:v>276</c:v>
                </c:pt>
                <c:pt idx="2">
                  <c:v>270</c:v>
                </c:pt>
                <c:pt idx="3">
                  <c:v>246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promotion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Home_Appliances</c:v>
                  </c:pt>
                  <c:pt idx="2">
                    <c:v>Laptops</c:v>
                  </c:pt>
                  <c:pt idx="3">
                    <c:v>SmartPhones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1.26</c:v>
                </c:pt>
                <c:pt idx="1">
                  <c:v>1.17</c:v>
                </c:pt>
                <c:pt idx="2">
                  <c:v>1.15</c:v>
                </c:pt>
                <c:pt idx="3">
                  <c:v>1.15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Promoted</c:v>
                </c:pt>
              </c:strCache>
            </c:strRef>
          </c:tx>
          <c:spPr>
            <a:solidFill>
              <a:srgbClr val="E870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Home_Appliances</c:v>
                  </c:pt>
                  <c:pt idx="2">
                    <c:v>Laptops</c:v>
                  </c:pt>
                  <c:pt idx="3">
                    <c:v>SmartPhones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1.16</c:v>
                </c:pt>
                <c:pt idx="1">
                  <c:v>1.27</c:v>
                </c:pt>
                <c:pt idx="2">
                  <c:v>1.18</c:v>
                </c:pt>
                <c:pt idx="3">
                  <c:v>1.18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Leftover inventory units</c:v>
                </c:pt>
              </c:strCache>
            </c:strRef>
          </c:tx>
          <c:spPr>
            <a:solidFill>
              <a:srgbClr val="E8702A"/>
            </a:solidFill>
            <a:ln w="25400" cap="flat">
              <a:solidFill>
                <a:srgbClr val="E8702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02A"/>
              </a:solidFill>
              <a:ln w="9525" cap="flat">
                <a:solidFill>
                  <a:srgbClr val="E870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6742</c:v>
                </c:pt>
                <c:pt idx="1">
                  <c:v>6464</c:v>
                </c:pt>
                <c:pt idx="2">
                  <c:v>5934</c:v>
                </c:pt>
                <c:pt idx="3">
                  <c:v>5537</c:v>
                </c:pt>
                <c:pt idx="4">
                  <c:v>6185</c:v>
                </c:pt>
                <c:pt idx="5">
                  <c:v>6043</c:v>
                </c:pt>
                <c:pt idx="6">
                  <c:v>6652</c:v>
                </c:pt>
                <c:pt idx="7">
                  <c:v>7494</c:v>
                </c:pt>
                <c:pt idx="8">
                  <c:v>6672</c:v>
                </c:pt>
                <c:pt idx="9">
                  <c:v>7691</c:v>
                </c:pt>
                <c:pt idx="10">
                  <c:v>5420</c:v>
                </c:pt>
                <c:pt idx="11">
                  <c:v>6463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5000"/>
        </c:scaling>
        <c:delete val="0"/>
        <c:axPos val="l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Deadstock value ($)</c:v>
                </c:pt>
              </c:strCache>
            </c:strRef>
          </c:tx>
          <c:spPr>
            <a:solidFill>
              <a:srgbClr val="16233F"/>
            </a:solidFill>
            <a:effectLst/>
          </c:spPr>
          <c:invertIfNegative val="0"/>
          <c:dLbls>
            <c:numFmt formatCode="$#,##0,K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333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Electronics</c:v>
                  </c:pt>
                  <c:pt idx="1">
                    <c:v>SmartPhones</c:v>
                  </c:pt>
                  <c:pt idx="2">
                    <c:v>Home_Appliances</c:v>
                  </c:pt>
                  <c:pt idx="3">
                    <c:v>Laptops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2564839</c:v>
                </c:pt>
                <c:pt idx="1">
                  <c:v>2420671</c:v>
                </c:pt>
                <c:pt idx="2">
                  <c:v>2369781</c:v>
                </c:pt>
                <c:pt idx="3">
                  <c:v>2220121</c:v>
                </c:pt>
              </c:numCache>
            </c:numRef>
          </c:val>
        </c:ser>
        <c:dLbls>
          <c:numFmt formatCode="$#,##0,K" sourceLinked="0"/>
          <c:txPr>
            <a:bodyPr/>
            <a:lstStyle/>
            <a:p>
              <a:pPr>
                <a:defRPr b="0" i="0" strike="noStrike" sz="1000" u="none">
                  <a:solidFill>
                    <a:srgbClr val="1B2333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1097280"/>
            <a:ext cx="731520" cy="457200"/>
          </a:xfrm>
          <a:prstGeom prst="line">
            <a:avLst/>
          </a:prstGeom>
          <a:noFill/>
          <a:ln w="19050">
            <a:solidFill>
              <a:srgbClr val="24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1554480"/>
            <a:ext cx="1097280" cy="548640"/>
          </a:xfrm>
          <a:prstGeom prst="line">
            <a:avLst/>
          </a:prstGeom>
          <a:noFill/>
          <a:ln w="19050">
            <a:solidFill>
              <a:srgbClr val="2434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0" y="1828800"/>
            <a:ext cx="1737360" cy="274320"/>
          </a:xfrm>
          <a:prstGeom prst="line">
            <a:avLst/>
          </a:prstGeom>
          <a:noFill/>
          <a:ln w="19050">
            <a:solidFill>
              <a:srgbClr val="2434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0" y="1828800"/>
            <a:ext cx="1005840" cy="822960"/>
          </a:xfrm>
          <a:prstGeom prst="line">
            <a:avLst/>
          </a:prstGeom>
          <a:noFill/>
          <a:ln w="19050">
            <a:solidFill>
              <a:srgbClr val="2434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29800" y="1051560"/>
            <a:ext cx="91440" cy="914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7" name="Shape 5"/>
          <p:cNvSpPr/>
          <p:nvPr/>
        </p:nvSpPr>
        <p:spPr>
          <a:xfrm>
            <a:off x="10561320" y="1508760"/>
            <a:ext cx="91440" cy="914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8" name="Shape 6"/>
          <p:cNvSpPr/>
          <p:nvPr/>
        </p:nvSpPr>
        <p:spPr>
          <a:xfrm>
            <a:off x="9464040" y="2057400"/>
            <a:ext cx="91440" cy="914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9" name="Shape 7"/>
          <p:cNvSpPr/>
          <p:nvPr/>
        </p:nvSpPr>
        <p:spPr>
          <a:xfrm>
            <a:off x="11201400" y="1783080"/>
            <a:ext cx="91440" cy="914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0" name="Shape 8"/>
          <p:cNvSpPr/>
          <p:nvPr/>
        </p:nvSpPr>
        <p:spPr>
          <a:xfrm>
            <a:off x="10195560" y="2606040"/>
            <a:ext cx="91440" cy="91440"/>
          </a:xfrm>
          <a:prstGeom prst="ellipse">
            <a:avLst/>
          </a:prstGeom>
          <a:solidFill>
            <a:srgbClr val="E870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10ALYTICS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· SQL CAPSTONE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Retail Group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inflation-driven margin erosion through data-aligned inventory and promotion strategy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806440"/>
            <a:ext cx="2926080" cy="0"/>
          </a:xfrm>
          <a:prstGeom prst="line">
            <a:avLst/>
          </a:prstGeom>
          <a:noFill/>
          <a:ln w="12700">
            <a:solidFill>
              <a:srgbClr val="2434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Tomiwa  ·  Pod Astra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Consultant Engagement  ·  PostgreSQL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 Retail Group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consumer-electronics retailer whose supply chain must react in real time to macroeconomic swings.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3957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· Ontario, Canada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3957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17720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Smartphones, laptops &amp; general electronics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3957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58200" y="31272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Tech-savvy urban consumers &amp; corporate buyers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· 250+ employees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89120" y="3794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17720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Direct-to-consumer omni-channel retail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379476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44536A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99592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8458200" y="3995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58200" y="44805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72744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challenger vs. Slot Nigeria, Jumia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strength: a data-driven supply chain built to dynamically react to economic shifts.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Volatile sales and eroding margins during high inflation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unaddressed, this leads to costly overstocking of premium tech items and missed revenue during downturns — hitting supply chain operations, warehousing cost, and overall profitability.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6233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788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Macroeconomic Volatility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inflation peaks and unpredictable regional GDP growth.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0" y="246888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6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788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Promotional Misalignment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34840" y="4297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disconnected from seasonal demand patterns.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680960" y="246888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16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000" y="27889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Stagnation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01000" y="42976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safety-stock limits locking up capital in slow-moving stock.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Supply Chain Consultant — analyze historical transactions, inventory, and macroeconomic data to guide leadership decisions.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· 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three raw tables to four decision-ready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745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historical transactions, inventory, and macro data via SQL.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0664" y="1984248"/>
            <a:ext cx="914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6060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Filter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sales ↔ product ↔ factors on productid / salesdate; drop irrelevant rows.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" y="3035808"/>
            <a:ext cx="914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03320"/>
            <a:ext cx="384048" cy="38404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776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category, month, and economic bands to size each pattern.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0664" y="4087368"/>
            <a:ext cx="914" cy="45720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754880"/>
            <a:ext cx="384048" cy="384048"/>
          </a:xfrm>
          <a:prstGeom prst="ellipse">
            <a:avLst/>
          </a:prstGeom>
          <a:solidFill>
            <a:srgbClr val="16233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754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47091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5029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sales, inventory value and cost across inflation/GDP/season splits.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852160" y="1600200"/>
            <a:ext cx="5760720" cy="4297680"/>
          </a:xfrm>
          <a:prstGeom prst="roundRect">
            <a:avLst>
              <a:gd name="adj" fmla="val 2128"/>
            </a:avLst>
          </a:prstGeom>
          <a:solidFill>
            <a:srgbClr val="16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Schema used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72200" y="246888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24345A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578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salesdate · gdp · inflationrate · seasonalfactor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61188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24345A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721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5080" y="4050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· productcategory · promotions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4754880"/>
            <a:ext cx="5120640" cy="960120"/>
          </a:xfrm>
          <a:prstGeom prst="roundRect">
            <a:avLst>
              <a:gd name="adj" fmla="val 6667"/>
            </a:avLst>
          </a:prstGeom>
          <a:solidFill>
            <a:srgbClr val="24345A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86460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5193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salesid (PK) · productid · salesdate · inventoryquantity · productcost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59436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rows per table  ·  joined on productid &amp; salesdate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OF 4 · INFLATION &amp; GDP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keeps selling as inflation climbs — everything else slows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transactions per category, split by inflation band (Low &lt;2.33% · Medium · High &gt;3.66%)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swing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+22.0% vs -13.1%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863840" y="338328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38404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sales volume rises 22% from low- to high-inflation periods, while Home_Appliances falls 13% and Laptops falls 7%. Inflation isn't shrinking demand uniformly — it's reshuffling it toward Electronics and away from big-ticket appliances.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OF 4 · PROMO &amp; DEMAND 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aren't moving the needle — and often fire in the off-season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sales transactions per product: promoted (Yes) vs. non-promoted (No), by category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sales in a slow season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764 transactions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863840" y="338328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38404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vs. non-promoted sales per product barely differ (~1.15-1.27 either way) — Electronics even sells better unpromoted. Meanwhile 764 promoted transactions (out of 728 promoted products' activity) land during below-average-demand windows (seasonalfactor &lt; 1.0), pointing to ad spend firing at the wrong time rather than the wrong volume.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OF 4 · INVENTORY &amp; OVERSTOCK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Deadstock peaks every October — and Electronics owns the warehouse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leftover inventory units by calendar month (all years combined)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vs. lowest month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7,691 vs 5,420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863840" y="338328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38404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carries 42% more leftover stock than the April trough — with August and January close behind. Electronics also holds the single largest warehouse footprint of any category at 23,754 total leftover units, ahead of SmartPhones, Home_Appliances and Laptops.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4 OF 4 · PROFIT MARGIN &amp; 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ties up the most cash in unsold stock — $2.56M and rising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deadstock value ($): leftover units × unit cost, by category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7040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828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16233F"/>
          </a:solidFill>
          <a:ln/>
        </p:spPr>
      </p:sp>
      <p:sp>
        <p:nvSpPr>
          <p:cNvPr id="7" name="Text 4"/>
          <p:cNvSpPr/>
          <p:nvPr/>
        </p:nvSpPr>
        <p:spPr>
          <a:xfrm>
            <a:off x="8138160" y="199339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deadstock category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138160" y="233172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7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· $2.56M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7863840" y="3383280"/>
            <a:ext cx="3749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3816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3840480"/>
            <a:ext cx="3200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combines the highest unit cost (~$106) with the highest leftover volume, so it drains the most working capital of any category — the same category that's also gaining sales share under inflation. Growth and cash lock-up are happening in the same place.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 to protect margin through the next inflation cycle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2434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93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safety stock by category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 buffer limits for Electronics (rising demand under inflation); tighten for Home_Appliances &amp; Laptops (demand falls as inflation rises).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73736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24345A"/>
          </a:solidFill>
          <a:ln/>
        </p:spPr>
      </p:sp>
      <p:sp>
        <p:nvSpPr>
          <p:cNvPr id="10" name="Shape 8"/>
          <p:cNvSpPr/>
          <p:nvPr/>
        </p:nvSpPr>
        <p:spPr>
          <a:xfrm>
            <a:off x="6172200" y="1993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26060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Re-time promotions to seasonalfactor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3017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ad spend away from below-average-demand windows — roughly a third of promoted sales are currently landing there for no measurable lift.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2434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79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Oct/Aug/Jan deadstock peaks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303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clearance pricing and reduced reorder points 4-6 weeks ahead of these recurring high-inventory months.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97880" y="4023360"/>
            <a:ext cx="5074920" cy="2011680"/>
          </a:xfrm>
          <a:prstGeom prst="roundRect">
            <a:avLst>
              <a:gd name="adj" fmla="val 4545"/>
            </a:avLst>
          </a:prstGeom>
          <a:solidFill>
            <a:srgbClr val="2434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172200" y="42793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8702A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4279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72200" y="4892040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promoting self-sustaining categories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72200" y="53035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 Electronics already lead in non-promoted sales — reallocate that budget toward inventory drawdown instead.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Executive Committee · Nexus Retail Group  |  10Alytics — Pod Astra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2026-08-01T09:32:45Z</dcterms:created>
  <dcterms:modified xsi:type="dcterms:W3CDTF">2026-08-01T09:32:45Z</dcterms:modified>
</cp:coreProperties>
</file>