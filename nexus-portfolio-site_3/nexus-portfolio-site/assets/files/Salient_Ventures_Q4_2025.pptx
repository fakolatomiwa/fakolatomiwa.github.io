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56"/>
    <a:srgbClr val="01413E"/>
    <a:srgbClr val="00393A"/>
    <a:srgbClr val="005654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2600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4114800" cy="4114800"/>
          </a:xfrm>
          <a:prstGeom prst="ellipse">
            <a:avLst/>
          </a:prstGeom>
          <a:solidFill>
            <a:srgbClr val="C8783A">
              <a:alpha val="12000"/>
            </a:srgbClr>
          </a:solidFill>
          <a:ln w="12700">
            <a:solidFill>
              <a:srgbClr val="C8783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Sales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4572000" cy="4572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10Alytics Data Analytics Team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Group: Pod Astra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October 1 – December 31, 2025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818888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BOARD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Introduction — Who is Salient Ventures?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Astra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| Q4 2025 Sales Analysis | 10Alytics — Pod Astra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2743200" cy="3566160"/>
          </a:xfrm>
          <a:prstGeom prst="rect">
            <a:avLst/>
          </a:prstGeom>
          <a:solidFill>
            <a:srgbClr val="0F3460"/>
          </a:solidFill>
          <a:ln w="12700">
            <a:solidFill>
              <a:srgbClr val="C878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22960"/>
            <a:ext cx="2743200" cy="64008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960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1920240"/>
            <a:ext cx="25237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is a fast-growing e-commerce company specialising in the sales and distribution of high-quality household and lifestyle products, operating exclusively through digital channels.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822960"/>
            <a:ext cx="2743200" cy="3566160"/>
          </a:xfrm>
          <a:prstGeom prst="rect">
            <a:avLst/>
          </a:prstGeom>
          <a:solidFill>
            <a:srgbClr val="0F3460"/>
          </a:solidFill>
          <a:ln w="12700">
            <a:solidFill>
              <a:srgbClr val="C878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22960"/>
            <a:ext cx="2743200" cy="64008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960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9184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Operate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920240"/>
            <a:ext cx="25237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Headquartered in California, the company uses the state's commercial infrastructure as its primary logistics hub while expanding aggressively into several other US states.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822960"/>
            <a:ext cx="2743200" cy="3566160"/>
          </a:xfrm>
          <a:prstGeom prst="rect">
            <a:avLst/>
          </a:prstGeom>
          <a:solidFill>
            <a:srgbClr val="0F3460"/>
          </a:solidFill>
          <a:ln w="12700">
            <a:solidFill>
              <a:srgbClr val="C878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822960"/>
            <a:ext cx="2743200" cy="64008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960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🛍️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1792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Sell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36208" y="1920240"/>
            <a:ext cx="25237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span multiple categories including Gym Accessories, Sports, Clothing, Accessories, Electronics, and Toys — diversified to capture the festive Q4 market.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The Challenge Facing Salient Ventures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Astra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| Q4 2025 Sales Analysis | 10Alytics — Pod Astra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2560320" cy="2286000"/>
          </a:xfrm>
          <a:prstGeom prst="rect">
            <a:avLst/>
          </a:prstGeom>
          <a:solidFill>
            <a:srgbClr val="3D0000"/>
          </a:solidFill>
          <a:ln w="1905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9144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74320" y="1874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QoQ Revenue Decline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– Q3 2025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7772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1143000"/>
            <a:ext cx="5669280" cy="402336"/>
          </a:xfrm>
          <a:prstGeom prst="rect">
            <a:avLst/>
          </a:prstGeom>
          <a:solidFill>
            <a:srgbClr val="0F3460"/>
          </a:solidFill>
          <a:ln w="6350">
            <a:solidFill>
              <a:srgbClr val="C878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1704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Poor inventory management leading to stockouts and overstock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1618488"/>
            <a:ext cx="5669280" cy="402336"/>
          </a:xfrm>
          <a:prstGeom prst="rect">
            <a:avLst/>
          </a:prstGeom>
          <a:solidFill>
            <a:srgbClr val="0F3460"/>
          </a:solidFill>
          <a:ln w="6350">
            <a:solidFill>
              <a:srgbClr val="C87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6459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Low customer retention — limited repeat purchase behaviour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08960" y="2093976"/>
            <a:ext cx="5669280" cy="402336"/>
          </a:xfrm>
          <a:prstGeom prst="rect">
            <a:avLst/>
          </a:prstGeom>
          <a:solidFill>
            <a:srgbClr val="0F3460"/>
          </a:solidFill>
          <a:ln w="6350">
            <a:solidFill>
              <a:srgbClr val="C878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1214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Lack of regional market penetration beyond California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08960" y="2569464"/>
            <a:ext cx="5669280" cy="402336"/>
          </a:xfrm>
          <a:prstGeom prst="rect">
            <a:avLst/>
          </a:prstGeom>
          <a:solidFill>
            <a:srgbClr val="0F3460"/>
          </a:solidFill>
          <a:ln w="6350">
            <a:solidFill>
              <a:srgbClr val="C878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59689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Flat salary structure — no sales performance incentives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859536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246120"/>
            <a:ext cx="64008" cy="137160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9184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54787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a surge in Q4 transaction volume following the strategic pivot, management cannot validate the true impact of the recovery plan due to limited data visibility — making it impossible to approve the 2026 budget with confidence. Salient Ventures must distinguish between vanity metrics and sustainable business growth.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of the Project — Strategic Objectives for Q4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Astra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| Q4 2025 Sales Analysis | 10Alytics — Pod Astra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411480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C878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77240"/>
            <a:ext cx="4114800" cy="54864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51560" y="886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Sales Performance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14173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and evaluate key metrics — total revenue, expenses, profit, margin, and product mix — for the Q4 2025 period.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777240"/>
            <a:ext cx="411480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C878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777240"/>
            <a:ext cx="4114800" cy="54864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868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0" y="886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Turnaround Strategy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18888" y="14173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the surge in Q4 transaction volume represents genuine, sustainable growth or short-term, low-value activity.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788920"/>
            <a:ext cx="411480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C878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88920"/>
            <a:ext cx="4114800" cy="54864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80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51560" y="2898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Product &amp; Customer Insights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34290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products, categories, customer segments, and regional contributors to profit.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788920"/>
            <a:ext cx="4114800" cy="1828800"/>
          </a:xfrm>
          <a:prstGeom prst="rect">
            <a:avLst/>
          </a:prstGeom>
          <a:solidFill>
            <a:srgbClr val="0F3460"/>
          </a:solidFill>
          <a:ln w="12700">
            <a:solidFill>
              <a:srgbClr val="C8783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788920"/>
            <a:ext cx="4114800" cy="54864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880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86400" y="2898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Board Decision-Making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18888" y="34290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dynamic, data-driven dashboard to support evidence-based decisions for the 2026 budget and strategy.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Performance: Key Metrics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Astra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| Q4 2025 Sales Analysis | 10Alytics — Pod Astra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8595360" cy="2371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0" descr="/home/claude/chart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45723" y="704088"/>
            <a:ext cx="4652554" cy="22800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3103016"/>
            <a:ext cx="4206240" cy="1715872"/>
          </a:xfrm>
          <a:prstGeom prst="rect">
            <a:avLst/>
          </a:prstGeom>
          <a:solidFill>
            <a:srgbClr val="0F2A45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3103016"/>
            <a:ext cx="54864" cy="1715872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3157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84048" y="3377336"/>
            <a:ext cx="4023360" cy="13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generated £114.7M in revenue with a 15% profit margin — a strong recovery from the Q1–Q3 decline. Total profit reached £17.2M across 34 products.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3103016"/>
            <a:ext cx="4206240" cy="1715872"/>
          </a:xfrm>
          <a:prstGeom prst="rect">
            <a:avLst/>
          </a:prstGeom>
          <a:solidFill>
            <a:srgbClr val="0A1A0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3103016"/>
            <a:ext cx="54864" cy="17158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73168" y="3157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73168" y="3377336"/>
            <a:ext cx="4023360" cy="13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high-margin products and reduce the cost base to push the profit margin beyond 15% in 2026. Monitor expenditure closely against the £97.5M Q4 spend.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Performance: Weekly Revenue &amp; Profit in Q4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Astra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| Q4 2025 Sales Analysis | 10Alytics — Pod Astra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8595360" cy="2371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0" descr="/home/claude/chart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48305" y="704088"/>
            <a:ext cx="4518206" cy="22800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3103016"/>
            <a:ext cx="4206240" cy="1715872"/>
          </a:xfrm>
          <a:prstGeom prst="rect">
            <a:avLst/>
          </a:prstGeom>
          <a:solidFill>
            <a:srgbClr val="0F2A45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3103016"/>
            <a:ext cx="54864" cy="1715872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3157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84048" y="3377336"/>
            <a:ext cx="4023360" cy="13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was strongest in weeks 47–50 (mid-to-late November), peaking at £11M, driven by Black Friday and festive season demand. Week 53 dipped sharply.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3103016"/>
            <a:ext cx="4206240" cy="1715872"/>
          </a:xfrm>
          <a:prstGeom prst="rect">
            <a:avLst/>
          </a:prstGeom>
          <a:solidFill>
            <a:srgbClr val="0A1A0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3103016"/>
            <a:ext cx="54864" cy="17158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73168" y="3157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73168" y="3377336"/>
            <a:ext cx="4023360" cy="13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targeted promotions around weeks 46–50 for 2026 to capitalise on the proven festive surge. Use week 53 dip to schedule restocking and operational resets.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Performance: Cities with the Most Profit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Astra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| Q4 2025 Sales Analysis | 10Alytics — Pod Astra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539496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0" descr="/home/claude/char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09" y="1290797"/>
            <a:ext cx="5303520" cy="286953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06440" y="658368"/>
            <a:ext cx="3154680" cy="2034540"/>
          </a:xfrm>
          <a:prstGeom prst="rect">
            <a:avLst/>
          </a:prstGeom>
          <a:solidFill>
            <a:srgbClr val="0F2A45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6440" y="658368"/>
            <a:ext cx="54864" cy="203454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16168" y="7132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16168" y="932688"/>
            <a:ext cx="2971800" cy="170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and Washington are the top two profit-generating states, significantly outperforming California, the company's home base. Georgia and Florida show lower contribution.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06440" y="2784348"/>
            <a:ext cx="3154680" cy="2034540"/>
          </a:xfrm>
          <a:prstGeom prst="rect">
            <a:avLst/>
          </a:prstGeom>
          <a:solidFill>
            <a:srgbClr val="0A1A0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06440" y="2784348"/>
            <a:ext cx="54864" cy="20345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16168" y="283921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16168" y="3058668"/>
            <a:ext cx="2971800" cy="170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marketing and inventory allocation in Texas and Washington. Investigate why California underperforms relative to its logistical advantage and close that gap.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Performance: Top 10 Products by Profit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Astra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| Q4 2025 Sales Analysis | 10Alytics — Pod Astra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8595360" cy="2371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0" descr="/home/claude/chart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4741" y="704088"/>
            <a:ext cx="7394518" cy="22800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3103016"/>
            <a:ext cx="4206240" cy="1715872"/>
          </a:xfrm>
          <a:prstGeom prst="rect">
            <a:avLst/>
          </a:prstGeom>
          <a:solidFill>
            <a:srgbClr val="0F2A45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3103016"/>
            <a:ext cx="54864" cy="1715872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3157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84048" y="3377336"/>
            <a:ext cx="4023360" cy="13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Bracelets lead profit by a wide margin, followed by Yoga Mat and Kids Games. Accessories and Gym products dominate the top 10, validating the Q3 diversification strategy.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3103016"/>
            <a:ext cx="4206240" cy="1715872"/>
          </a:xfrm>
          <a:prstGeom prst="rect">
            <a:avLst/>
          </a:prstGeom>
          <a:solidFill>
            <a:srgbClr val="0A1A0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3103016"/>
            <a:ext cx="54864" cy="17158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73168" y="3157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73168" y="3377336"/>
            <a:ext cx="4023360" cy="13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stock levels and marketing spend on Gold Bracelets, Yoga Mats, and Kids Games. Bundle lower-ranking products with top performers to lift their contribution.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Performance: Most Profitable Categories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Astra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| Q4 2025 Sales Analysis | 10Alytics — Pod Astra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71430"/>
            <a:ext cx="539496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0" descr="/home/claude/char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34689"/>
            <a:ext cx="5303520" cy="260787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06440" y="658368"/>
            <a:ext cx="3154680" cy="2034540"/>
          </a:xfrm>
          <a:prstGeom prst="rect">
            <a:avLst/>
          </a:prstGeom>
          <a:solidFill>
            <a:srgbClr val="0F2A45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6440" y="658368"/>
            <a:ext cx="54864" cy="203454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16168" y="7132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16168" y="932688"/>
            <a:ext cx="2971800" cy="170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is the most profitable category, followed closely by Clothing. Gym and Sports — newly introduced categories — already show competitive profit levels, confirming the pivot paid off.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06440" y="2784348"/>
            <a:ext cx="3154680" cy="2034540"/>
          </a:xfrm>
          <a:prstGeom prst="rect">
            <a:avLst/>
          </a:prstGeom>
          <a:solidFill>
            <a:srgbClr val="0A1A0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06440" y="2784348"/>
            <a:ext cx="54864" cy="20345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16168" y="283921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16168" y="3058668"/>
            <a:ext cx="2971800" cy="170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expanding the Accessories and Clothing range. Scale Gym and Sports inventory to meet growing demand and consider launching seasonal bundles across these categories.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Performance: Top 5 Best-Selling Products by Quantity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Astra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| Q4 2025 Sales Analysis | 10Alytics — Pod Astra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539496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0" descr="/home/claude/chart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53751"/>
            <a:ext cx="5303520" cy="27697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06440" y="658368"/>
            <a:ext cx="3154680" cy="2034540"/>
          </a:xfrm>
          <a:prstGeom prst="rect">
            <a:avLst/>
          </a:prstGeom>
          <a:solidFill>
            <a:srgbClr val="0F2A45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6440" y="658368"/>
            <a:ext cx="54864" cy="203454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16168" y="7132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16168" y="932688"/>
            <a:ext cx="2971800" cy="170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Bracelets leads unit sales, with Turtle neck and Iron also ranking highly. Notably, Gold Bracelets appear in both the top profit AND top quantity lists, a standout product.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06440" y="2784348"/>
            <a:ext cx="3154680" cy="2034540"/>
          </a:xfrm>
          <a:prstGeom prst="rect">
            <a:avLst/>
          </a:prstGeom>
          <a:solidFill>
            <a:srgbClr val="0A1A0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06440" y="2784348"/>
            <a:ext cx="54864" cy="20345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16168" y="283921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16168" y="3058668"/>
            <a:ext cx="2971800" cy="170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consistent stock availability for Turtle Neck and Gold Bracelets. Use their popularity to cross-sell complementary items and increase average order value. 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Insights: Top 5 Customers by Revenue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Astra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| Q4 2025 Sales Analysis | 10Alytics — Pod Astra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539496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658368"/>
            <a:ext cx="3154680" cy="2034540"/>
          </a:xfrm>
          <a:prstGeom prst="rect">
            <a:avLst/>
          </a:prstGeom>
          <a:solidFill>
            <a:srgbClr val="0F2A45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6440" y="658368"/>
            <a:ext cx="54864" cy="203454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16168" y="7132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16168" y="932688"/>
            <a:ext cx="2971800" cy="170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Chioma Adeyemi and Uche Abubakar are the top revenue contributors. The revenue gap between top and bottom customers in this group is relatively narrow.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06440" y="2784348"/>
            <a:ext cx="3154680" cy="2034540"/>
          </a:xfrm>
          <a:prstGeom prst="rect">
            <a:avLst/>
          </a:prstGeom>
          <a:solidFill>
            <a:srgbClr val="0A1A0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06440" y="2784348"/>
            <a:ext cx="54864" cy="20345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16168" y="283921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16168" y="3058668"/>
            <a:ext cx="2971800" cy="170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VIP loyalty programme targeting the top 10 customers. Personalised offers and early access to new products can increase retention and boost their lifetime value.</a:t>
            </a:r>
            <a:endParaRPr lang="en-US" sz="10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70D1DA8-85A7-41F6-5DE9-28B11F572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066" y="1195474"/>
            <a:ext cx="3731558" cy="31777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Insights: Purchasing Behavior by Gender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Astra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| Q4 2025 Sales Analysis | 10Alytics — Pod Astra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539496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0" descr="/home/claude/chart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39618"/>
            <a:ext cx="5303520" cy="27980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06440" y="658368"/>
            <a:ext cx="3154680" cy="2034540"/>
          </a:xfrm>
          <a:prstGeom prst="rect">
            <a:avLst/>
          </a:prstGeom>
          <a:solidFill>
            <a:srgbClr val="0F2A45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6440" y="658368"/>
            <a:ext cx="54864" cy="203454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16168" y="7132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16168" y="932688"/>
            <a:ext cx="2971800" cy="170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generated slightly higher profit (£9.25M) compared to female customers (£7.96M). The split is relatively balanced at approximately 54% male vs 46% female.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06440" y="2784348"/>
            <a:ext cx="3154680" cy="2034540"/>
          </a:xfrm>
          <a:prstGeom prst="rect">
            <a:avLst/>
          </a:prstGeom>
          <a:solidFill>
            <a:srgbClr val="0A1A0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06440" y="2784348"/>
            <a:ext cx="54864" cy="20345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16168" y="283921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16168" y="3058668"/>
            <a:ext cx="2971800" cy="170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 single-gender focus — both segments are valuable. Tailor marketing creatives by gender preference: promote Gym/Sports to male customers and Accessories/Clothing to female customers.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Insights: Revenue by Age Group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Astra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| Q4 2025 Sales Analysis | 10Alytics — Pod Astra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8595360" cy="2371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9" name="Image 0" descr="/home/claude/chart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7657" y="704088"/>
            <a:ext cx="7828685" cy="22800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3103016"/>
            <a:ext cx="4206240" cy="1715872"/>
          </a:xfrm>
          <a:prstGeom prst="rect">
            <a:avLst/>
          </a:prstGeom>
          <a:solidFill>
            <a:srgbClr val="0F2A45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3103016"/>
            <a:ext cx="54864" cy="1715872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3157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7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84048" y="3377336"/>
            <a:ext cx="4023360" cy="13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18–35 age bracket (combined) generates the highest profit, peaking at the 26–35 group. Profit declines steadily after 35, dropping sharply in the 46–55 bracket.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3103016"/>
            <a:ext cx="4206240" cy="1715872"/>
          </a:xfrm>
          <a:prstGeom prst="rect">
            <a:avLst/>
          </a:prstGeom>
          <a:solidFill>
            <a:srgbClr val="0A1A0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3103016"/>
            <a:ext cx="54864" cy="17158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73168" y="3157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73168" y="3377336"/>
            <a:ext cx="4023360" cy="13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acquisition and retention campaigns on the 18–35 demographic. Introduce youth-oriented products and social-media-driven promotions. Consider incentives to re-engage the 36–45 segment.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8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Turnaround Strategy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91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Pod Astra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EC0"/>
                </a:solidFill>
                <a:latin typeface="Calibri"/>
              </a:rPr>
              <a:t>Salient Ventures | Q4 2025 Sales Analysis | 10Alytics — Pod Astra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85800"/>
            <a:ext cx="8595360" cy="566928"/>
          </a:xfrm>
          <a:prstGeom prst="rect">
            <a:avLst/>
          </a:prstGeom>
          <a:solidFill>
            <a:srgbClr val="0A2A0A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64008" cy="56692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71323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✅  VERDICT: YES — THE STRATEGY WORKED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2743200" cy="2834640"/>
          </a:xfrm>
          <a:prstGeom prst="rect">
            <a:avLst/>
          </a:prstGeom>
          <a:solidFill>
            <a:srgbClr val="0F3460"/>
          </a:solidFill>
          <a:ln w="10160">
            <a:solidFill>
              <a:srgbClr val="C87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2743200" cy="54864"/>
          </a:xfrm>
          <a:prstGeom prst="rect">
            <a:avLst/>
          </a:prstGeom>
          <a:solidFill>
            <a:srgbClr val="C8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444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8470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A45A"/>
                </a:solidFill>
                <a:latin typeface="Calibri"/>
              </a:rPr>
              <a:t>Performance-Based Incentives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2560320" cy="228600"/>
          </a:xfrm>
          <a:prstGeom prst="rect">
            <a:avLst/>
          </a:prstGeom>
          <a:solidFill>
            <a:srgbClr val="3D1010"/>
          </a:solidFill>
          <a:ln w="63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229514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6B6B"/>
                </a:solidFill>
                <a:latin typeface="Calibri"/>
              </a:rPr>
              <a:t>BEFORE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542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2E8F0"/>
                </a:solidFill>
                <a:latin typeface="Calibri"/>
              </a:rPr>
              <a:t>Flat salaries → low staff motivation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44368"/>
            <a:ext cx="2560320" cy="228600"/>
          </a:xfrm>
          <a:prstGeom prst="rect">
            <a:avLst/>
          </a:prstGeom>
          <a:solidFill>
            <a:srgbClr val="0A2A0A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79" y="295351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CAF50"/>
                </a:solidFill>
                <a:latin typeface="Calibri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£114.7M revenue &amp; £17.2M profit in Q4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03320"/>
            <a:ext cx="2560320" cy="347472"/>
          </a:xfrm>
          <a:prstGeom prst="rect">
            <a:avLst/>
          </a:prstGeom>
          <a:solidFill>
            <a:srgbClr val="0A2A0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72160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CAF50"/>
                </a:solidFill>
                <a:latin typeface="Calibri"/>
              </a:rPr>
              <a:t>✅  DELIVERED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79" y="1371600"/>
            <a:ext cx="2743200" cy="2834640"/>
          </a:xfrm>
          <a:prstGeom prst="rect">
            <a:avLst/>
          </a:prstGeom>
          <a:solidFill>
            <a:srgbClr val="0F3460"/>
          </a:solidFill>
          <a:ln w="10160">
            <a:solidFill>
              <a:srgbClr val="C87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54679" y="1371600"/>
            <a:ext cx="2743200" cy="54864"/>
          </a:xfrm>
          <a:prstGeom prst="rect">
            <a:avLst/>
          </a:prstGeom>
          <a:solidFill>
            <a:srgbClr val="C8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54679" y="1444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18470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A45A"/>
                </a:solidFill>
                <a:latin typeface="Calibri"/>
              </a:rPr>
              <a:t>Inventory Diversification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2286000"/>
            <a:ext cx="2560320" cy="228600"/>
          </a:xfrm>
          <a:prstGeom prst="rect">
            <a:avLst/>
          </a:prstGeom>
          <a:solidFill>
            <a:srgbClr val="3D1010"/>
          </a:solidFill>
          <a:ln w="63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91839" y="229514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6B6B"/>
                </a:solidFill>
                <a:latin typeface="Calibri"/>
              </a:rPr>
              <a:t>BEFORE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2542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2E8F0"/>
                </a:solidFill>
                <a:latin typeface="Calibri"/>
              </a:rPr>
              <a:t>Narrow product range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2944368"/>
            <a:ext cx="2560320" cy="228600"/>
          </a:xfrm>
          <a:prstGeom prst="rect">
            <a:avLst/>
          </a:prstGeom>
          <a:solidFill>
            <a:srgbClr val="0A2A0A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91839" y="295351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CAF50"/>
                </a:solidFill>
                <a:latin typeface="Calibri"/>
              </a:rPr>
              <a:t>AFTER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Accessories &amp; Gym lead profitability; 34 active products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3703320"/>
            <a:ext cx="2560320" cy="347472"/>
          </a:xfrm>
          <a:prstGeom prst="rect">
            <a:avLst/>
          </a:prstGeom>
          <a:solidFill>
            <a:srgbClr val="0A2A0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46120" y="372160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CAF50"/>
                </a:solidFill>
                <a:latin typeface="Calibri"/>
              </a:rPr>
              <a:t>✅  DELIVERED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1371600"/>
            <a:ext cx="2743200" cy="2834640"/>
          </a:xfrm>
          <a:prstGeom prst="rect">
            <a:avLst/>
          </a:prstGeom>
          <a:solidFill>
            <a:srgbClr val="0F3460"/>
          </a:solidFill>
          <a:ln w="10160">
            <a:solidFill>
              <a:srgbClr val="C87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35040" y="1371600"/>
            <a:ext cx="2743200" cy="54864"/>
          </a:xfrm>
          <a:prstGeom prst="rect">
            <a:avLst/>
          </a:prstGeom>
          <a:solidFill>
            <a:srgbClr val="C8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5040" y="1444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79" y="18470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A45A"/>
                </a:solidFill>
                <a:latin typeface="Calibri"/>
              </a:rPr>
              <a:t>Aggressive Regional Marketing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79" y="2286000"/>
            <a:ext cx="2560320" cy="228600"/>
          </a:xfrm>
          <a:prstGeom prst="rect">
            <a:avLst/>
          </a:prstGeom>
          <a:solidFill>
            <a:srgbClr val="3D1010"/>
          </a:solidFill>
          <a:ln w="63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229514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6B6B"/>
                </a:solidFill>
                <a:latin typeface="Calibri"/>
              </a:rPr>
              <a:t>BEFORE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79" y="2542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2E8F0"/>
                </a:solidFill>
                <a:latin typeface="Calibri"/>
              </a:rPr>
              <a:t>California-centric operations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79" y="2944368"/>
            <a:ext cx="2560320" cy="228600"/>
          </a:xfrm>
          <a:prstGeom prst="rect">
            <a:avLst/>
          </a:prstGeom>
          <a:solidFill>
            <a:srgbClr val="0A2A0A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72200" y="295351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CAF50"/>
                </a:solidFill>
                <a:latin typeface="Calibri"/>
              </a:rPr>
              <a:t>AFTER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79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Texas &amp; Washington now top profit cities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79" y="3703320"/>
            <a:ext cx="2560320" cy="347472"/>
          </a:xfrm>
          <a:prstGeom prst="rect">
            <a:avLst/>
          </a:prstGeom>
          <a:solidFill>
            <a:srgbClr val="0A2A0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26479" y="372160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CAF50"/>
                </a:solidFill>
                <a:latin typeface="Calibri"/>
              </a:rPr>
              <a:t>✅  DELIVERED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325112"/>
            <a:ext cx="8595360" cy="475488"/>
          </a:xfrm>
          <a:prstGeom prst="rect">
            <a:avLst/>
          </a:prstGeom>
          <a:solidFill>
            <a:srgbClr val="0F2A45"/>
          </a:solidFill>
          <a:ln w="10160">
            <a:solidFill>
              <a:srgbClr val="C87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74320" y="4325112"/>
            <a:ext cx="64008" cy="475488"/>
          </a:xfrm>
          <a:prstGeom prst="rect">
            <a:avLst/>
          </a:prstGeom>
          <a:solidFill>
            <a:srgbClr val="C8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1480" y="4352544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Q4 revenue of £114.7M marks a 31% rebound vs Q3's £87.6M — sustainable growth confirmed across revenue, profit margin, regional expansion, and product diversification.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Excel Dashboard — Salient Ventures Q4 2025 Full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91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Astra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| Q4 2025 Sales Analysis | 10Alytics — Pod Astra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4901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81634" y="749808"/>
            <a:ext cx="7355542" cy="3886200"/>
          </a:xfrm>
          <a:prstGeom prst="rect">
            <a:avLst/>
          </a:prstGeom>
          <a:solidFill>
            <a:srgbClr val="003956"/>
          </a:solidFill>
          <a:ln w="25400">
            <a:solidFill>
              <a:srgbClr val="C8783A"/>
            </a:solidFill>
            <a:prstDash val="dash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554480"/>
            <a:ext cx="8412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E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
</a:t>
            </a:r>
            <a:endParaRPr lang="en-US" sz="3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
</a:t>
            </a:r>
            <a:endParaRPr lang="en-US" sz="36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your Excel Dashboard screenshot here)
</a:t>
            </a: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includes slicers: Location | Category | Month</a:t>
            </a:r>
            <a:endParaRPr lang="en-US" sz="3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1AD8DD-2FCA-516A-A977-9FDF6A014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34" y="749808"/>
            <a:ext cx="7355541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C8783A">
              <a:alpha val="10000"/>
            </a:srgbClr>
          </a:solidFill>
          <a:ln w="12700">
            <a:solidFill>
              <a:srgbClr val="C8783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114800" cy="4572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Q4 2025 Sales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10Alytics — Pod Astra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#ShowYourWorkings  |  @10Alytics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8783A"/>
          </a:solidFill>
          <a:ln w="12700">
            <a:solidFill>
              <a:srgbClr val="C878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818888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VENTURES  |  Q4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1359</Words>
  <Application>Microsoft Office PowerPoint</Application>
  <PresentationFormat>On-screen Show (16:9)</PresentationFormat>
  <Paragraphs>177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Salient Ventures Q4 Sales Analysis</dc:title>
  <dc:subject>PptxGenJS Presentation</dc:subject>
  <dc:creator>PptxGenJS</dc:creator>
  <cp:lastModifiedBy>PC</cp:lastModifiedBy>
  <cp:revision>7</cp:revision>
  <dcterms:created xsi:type="dcterms:W3CDTF">2026-05-23T03:18:04Z</dcterms:created>
  <dcterms:modified xsi:type="dcterms:W3CDTF">2026-05-29T21:24:38Z</dcterms:modified>
</cp:coreProperties>
</file>